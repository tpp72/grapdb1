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63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 ผมต่อพงศ์ เพียรพัฒน์กุล รหัสนักศึกษา 664245010 วันนี้ผมจะนำเสนอระบบแนะนำเหรียญ Crypto ที่สร้างด้วย Graph Database ครับ งานนี้เป็นตัวอย่างเชิงวิชาการเรื่องโครงสร้าง Graph เท่านั้น ไม่ใช่คำแนะนำการลงทุนนะครับ แอปเปิดใช้งานได้จริงตามลิงก์ที่อยู่บนสไลด์ครับ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แนวคิดของระบบนี้ง่ายมากครับ ระบบไม่ได้ตัดสินว่าเหรียญไหนดี แต่ถามว่าคนที่ถือเหรียญเหมือนเรายังถืออะไรอีก ขั้นตอนมี 4 ขั้น คือดูว่าเราถืออะไร หาคนที่ถือเหรียญเดียวกัน ดูว่าเขาถืออะไรอีก แล้วแนะนำเหรียญที่เรายังไม่มี คะแนนของแต่ละเหรียญคือจำนวนเส้นทางในกราฟที่เดินไปถึงเหรียญนั้นครับ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งานที่ผมนำเสนอเป็นชิ้นที่ 4 ของงานที่ทำต่อเนื่องกันครับ เริ่มจากงานแรกที่แนะนำหนังสือและชมรมด้วย Neo4j ต่อด้วยงานที่สองที่สร้าง Crypto Recommender ด้วย NetworkX งานที่สามย้ายข้อมูลชุดเดียวกันขึ้น Neo4j Aura แล้วเดินกราฟด้วย Cypher งานที่สี่คือแอป Streamlit ที่ต่อกับ Neo4j Aura ซึ่งเป็นงานหลักที่ผมจะเล่าวันนี้ครับ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กราฟของระบบมี Node 3 ชนิด คือ User Coin และ Category ครับ ความสัมพันธ์ก็มี 3 ชนิด HOLDS บอกว่าผู้ใช้ถือเหรียญ IN_CATEGORY บอกว่าเหรียญอยู่ในหมวดไหน ส่วน FRIEND_OF เชื่อมผู้ใช้ 2 คนที่ถือเหรียญเดียวกันอย่างน้อย 1 เหรียญ ซึ่งระบบคำนวณจาก HOLDS เอง ไม่มีใครกรอกครับ ภาพทางขวาคือกราฟจริงจากแอป แบ่งเป็น 3 ชั้นตามชนิดของ Node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ข้อมูลตัวอย่างมีผู้ใช้ 10 คน เหรียญ 8 เหรียญ และหมวดหมู่ 4 หมวดครับ มี HOLDS 26 เส้น และ FRIEND_OF 27 คู่ ตัวเลขในภาพมาจากหน้าตั้งค่าข้อมูลของแอป ซึ่งนับจากฐานข้อมูลจริง ข้อมูลชุดนี้เล็กพอที่จะไล่ตามเส้นทางด้วยตาและตรวจคำตอบได้ครับ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Cypher นี้เดิน 3 hop จากผู้ใช้ ผ่านเหรียญที่ถือ ไปยังคนที่ถือเหรียญเดียวกัน แล้วไปถึงเหรียญใหม่ครับ บรรทัดสำคัญคือ count(*) ซึ่งนับจำนวนเส้นทางที่ไปจบที่เหรียญเดียวกัน ตัวอย่างคือ Anan ที่ถือ BTC กับ ETH เดินไปถึง SOL ได้ 5 เส้นทาง SOL จึงได้ 5 คะแนน รองลงมาคือ BNB 3 ส่วน ADA กับ XRP ได้ 2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ในแอป คำแนะนำไม่ได้มาเป็นตัวเลขอย่างเดียวครับ ใต้เหรียญแต่ละตัวแอปวาดเส้นทางที่ถูกนับเป็นคะแนนให้เห็นทุกเส้น เช่น BNB ได้ 3 คะแนน ก็เห็นเลยว่ามาจาก Chai กับ Jane ผ่าน BTC และ ETH ผู้ใช้จึงตรวจได้เองว่าทำไมเหรียญนี้ถึงถูกแนะนำครับ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FRIEND_OF สร้างจาก HOLDS ครับ ถ้าผู้ใช้สองคนถือเหรียญเดียวกัน ระบบจะสร้างเส้น FRIEND_OF และเก็บจำนวนเหรียญที่ถือร่วมกันไว้ใน weight พอมีเส้นนี้แล้ว การแนะนำเดินแค่ 2 hop คือจากผู้ใช้ไปหาเพื่อน แล้วไปหาเหรียญของเพื่อน คะแนนเท่ากับแบบ 3 hop เสมอ เพราะ weight ก็คือจำนวนเส้นทางที่ผ่านเพื่อนคนนั้น เช่น SOL ได้ 2 บวก 2 บวก 1 เท่ากับ 5 เหมือนเดิมครับ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แบบที่สามไม่ต้องอาศัยผู้ใช้คนอื่นเลยครับ ระบบเดินจากเหรียญที่เราถือ ไปยังหมวดหมู่ แล้วไปหาเหรียญอื่นในหมวดเดียวกัน Anan ถือ BTC กับ ETH ซึ่งอยู่หมวด Layer1 จึงได้ ADA กับ SOL อย่างละ 2 คะแนน ส่วนแบบที่พึ่งผู้ใช้คนอื่นมีข้อจำกัด เช่น Gun ที่ถือแต่ DOGE กับ PEPE เชื่อมกับส่วนอื่นของกราฟผ่าน Kong และ Dao เท่านั้น แบบ 3 hop จึงแนะนำได้แค่ SOL 3 คะแนนครับ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แอปนี้ไม่ได้แสดงผลอย่างเดียวครับ ข้อมูลทุกส่วนจัดการได้จากหน้าเว็บ ทั้งผู้ใช้ เหรียญ หมวดหมู่ และ HOLDS เหรียญอัปโหลดรูปได้ รูปจะถูกย่อไม่เกิน 128 พิกเซลแล้วเก็บไว้ใน property ของ Node จึงไม่หายเมื่อแอปรีสตาร์ต ส่วน HOLDS แก้ได้ทั้งพอร์ตหรือทีละเส้นครับ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FRIEND_OF เป็นข้อมูลที่คำนวณมาจาก HOLDS ครับ ถ้า HOLDS เปลี่ยนแต่ FRIEND_OF ไม่เปลี่ยน คำแนะนำแบบผ่านเพื่อนจะไม่ตรงกับข้อมูลจริง ผมจึงให้ระบบสร้าง FRIEND_OF ใหม่ในทรานแซกชันเดียวกับทุกการแก้ไขที่กระทบ HOLDS ถ้าขั้นไหนล้มเหลว ทั้งหมดจะถูกยกเลิก ข้อมูลสองชุดจึงตรงกันเสมอครับ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โค้ดแบ่งเป็นสองส่วนครับ app.py เป็นหน้าจอ ส่วน neo4j_service.py เก็บ Cypher ทั้งหมดและคุยกับ Neo4j Aura ทุกคำสั่งใช้ parameter ไม่ต่อ string จากข้อมูลที่ผู้ใช้พิมพ์ รหัสเชื่อมต่อฐานข้อมูลเก็บใน Streamlit Secrets ไม่อยู่ในโค้ด และแอป deploy จาก branch main ของ GitHub ขึ้น Streamlit Community Cloud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หน้าตาของแอปใช้ภาษาเดียวกับแผนที่เส้นทางรถไฟฟ้าครับ สีของเส้นบอกชนิดความสัมพันธ์ สีเขียวคือ HOLDS สีม่วงคือ FRIEND_OF และสีส้มคือ IN_CATEGORY เมนูกับหน้ารวมการบ้านก็วาดเป็นเส้นทางที่มีสถานีเหมือนกัน และแอปใช้ได้บนมือถือตามภาพทางขวาครับ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สรุปสามข้อครับ ระบบแนะนำเหรียญด้วยการนับเส้นทางในกราฟ คำแนะนำทุกข้ออธิบายได้เพราะแอปวาดเส้นทางให้เห็น และระบบใช้ได้จริงบน Neo4j Aura กับ Streamlit Community Cloud แนวทางต่อยอดทางขวาเป็นแผนที่ผมยังไม่ได้ทำครับ ขอย้ำว่างานนี้เป็นตัวอย่างเชิงวิชาการเรื่องโครงสร้าง Graph ไม่ใช่คำแนะนำการลงทุน ขอบคุณครับ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7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600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งานวิชา Graph Database</a:t>
            </a:r>
            <a:endParaRPr lang="th-TH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44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ระบบแนะนำเหรียญ Crypto</a:t>
            </a:r>
            <a:endParaRPr lang="th-TH" sz="4400" dirty="0"/>
          </a:p>
          <a:p>
            <a:pPr marL="0" indent="0" algn="l">
              <a:buNone/>
            </a:pPr>
            <a:r>
              <a:rPr lang="th-TH" altLang="en-US" sz="44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ด้วย Graph Database</a:t>
            </a:r>
            <a:endParaRPr lang="th-TH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2000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แนะนำด้วยการนับเส้นทางในกราฟ และวาดเส้นทางนั้นให้เห็น</a:t>
            </a:r>
            <a:endParaRPr lang="th-TH" sz="2000" dirty="0"/>
          </a:p>
        </p:txBody>
      </p:sp>
      <p:sp>
        <p:nvSpPr>
          <p:cNvPr id="5" name="Shape 3"/>
          <p:cNvSpPr/>
          <p:nvPr/>
        </p:nvSpPr>
        <p:spPr>
          <a:xfrm>
            <a:off x="1005840" y="4160520"/>
            <a:ext cx="9052560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841248" y="3995928"/>
            <a:ext cx="329184" cy="329184"/>
          </a:xfrm>
          <a:prstGeom prst="ellipse">
            <a:avLst/>
          </a:prstGeom>
          <a:solidFill>
            <a:srgbClr val="111A17"/>
          </a:solidFill>
          <a:ln w="3810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 txBox="1"/>
          <p:nvPr/>
        </p:nvSpPr>
        <p:spPr>
          <a:xfrm>
            <a:off x="9144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400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Anan</a:t>
            </a:r>
            <a:endParaRPr lang="th-TH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776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HOLDS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58768" y="3995928"/>
            <a:ext cx="329184" cy="32918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 txBox="1"/>
          <p:nvPr/>
        </p:nvSpPr>
        <p:spPr>
          <a:xfrm>
            <a:off x="310896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400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BTC</a:t>
            </a:r>
            <a:endParaRPr lang="th-TH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3776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HOLDS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76288" y="3995928"/>
            <a:ext cx="329184" cy="32918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 txBox="1"/>
          <p:nvPr/>
        </p:nvSpPr>
        <p:spPr>
          <a:xfrm>
            <a:off x="612648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400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Bee</a:t>
            </a:r>
            <a:endParaRPr lang="th-TH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776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HOLDS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48088" y="3950208"/>
            <a:ext cx="420624" cy="42062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 txBox="1"/>
          <p:nvPr/>
        </p:nvSpPr>
        <p:spPr>
          <a:xfrm>
            <a:off x="9144000" y="4434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4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SOL</a:t>
            </a:r>
            <a:endParaRPr lang="th-TH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1206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ต่อพงศ์ เพียรพัฒน์กุล · รหัสนักศึกษา 664245010</a:t>
            </a:r>
            <a:endParaRPr lang="th-TH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321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en-US" sz="1600" u="sng" dirty="0">
                <a:solidFill>
                  <a:srgbClr val="FFFFFF"/>
                </a:solidFill>
                <a:ea typeface="Anuphan"/>
              </a:rPr>
              <a:t>homework-app-664245010.streamlit.app/</a:t>
            </a:r>
            <a:endParaRPr lang="th-TH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ตัวอย่างเชิงวิชาการเรื่องโครงสร้าง Graph เท่านั้น ไม่ใช่คำแนะนำการลงทุน</a:t>
            </a:r>
            <a:endParaRPr lang="th-TH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64008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ระบบนี้ไม่ได้ถามว่าเหรียญไหนดี แต่ถามว่าคนที่พอร์ตคล้ายเราถืออะไรอีก</a:t>
            </a:r>
            <a:endParaRPr lang="th-TH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คำแนะนำมาจากการเดินกราฟ 4 ขั้น ระบบไม่มีราคาเหรียญหรือข้อมูลตลาด</a:t>
            </a:r>
            <a:endParaRPr lang="th-TH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8503920" cy="0"/>
          </a:xfrm>
          <a:prstGeom prst="line">
            <a:avLst/>
          </a:prstGeom>
          <a:noFill/>
          <a:ln w="1016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 txBox="1"/>
          <p:nvPr/>
        </p:nvSpPr>
        <p:spPr>
          <a:xfrm>
            <a:off x="1463040" y="237744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10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เราถืออะไร</a:t>
            </a:r>
            <a:endParaRPr lang="th-TH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Anan ถือ BTC และ ETH</a:t>
            </a:r>
            <a:endParaRPr lang="th-TH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37744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310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ใครถือเหรียญเดียวกัน</a:t>
            </a:r>
            <a:endParaRPr lang="th-TH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Bee, Jane, Chai, Earn, Fah, Ice</a:t>
            </a:r>
            <a:endParaRPr lang="th-TH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37744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310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เขาถืออะไรอีก</a:t>
            </a:r>
            <a:endParaRPr lang="th-TH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SOL, BNB, ADA, XRP</a:t>
            </a:r>
            <a:endParaRPr lang="th-TH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2377440"/>
            <a:ext cx="731520" cy="731520"/>
          </a:xfrm>
          <a:prstGeom prst="ellipse">
            <a:avLst/>
          </a:prstGeom>
          <a:solidFill>
            <a:srgbClr val="111A17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3310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แนะนำเหรียญที่ยังไม่ถือ</a:t>
            </a:r>
            <a:endParaRPr lang="th-TH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SOL มาอันดับแรก เดินถึงได้ 5 ทาง</a:t>
            </a:r>
            <a:endParaRPr lang="th-TH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91672" cy="1143000"/>
          </a:xfrm>
          <a:prstGeom prst="rect">
            <a:avLst/>
          </a:prstGeom>
          <a:solidFill>
            <a:srgbClr val="EEF2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 txBox="1"/>
          <p:nvPr/>
        </p:nvSpPr>
        <p:spPr>
          <a:xfrm>
            <a:off x="822960" y="4983480"/>
            <a:ext cx="10543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0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คะแนนของเหรียญ = จำนวนเส้นทางที่เดินไปถึงเหรียญนั้น</a:t>
            </a:r>
            <a:endParaRPr lang="th-TH" sz="1400" dirty="0"/>
          </a:p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เหรียญที่ผู้ใช้ถืออยู่แล้วถูกตัดออกทุกครั้ง</a:t>
            </a:r>
            <a:endParaRPr lang="th-TH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64008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งานนี้คือสถานีสุดท้ายของงาน 4 ชิ้นที่ต่อเนื่องกัน</a:t>
            </a:r>
            <a:endParaRPr lang="th-TH" sz="2600" dirty="0"/>
          </a:p>
        </p:txBody>
      </p:sp>
      <p:pic>
        <p:nvPicPr>
          <p:cNvPr id="5" name="Image 0" descr="หน้ารวมการบ้านของแอป แสดงสถานี 01 ถึง 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0640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63040"/>
            <a:ext cx="4064000" cy="4572000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" name="Text 4"/>
          <p:cNvSpPr txBox="1"/>
          <p:nvPr/>
        </p:nvSpPr>
        <p:spPr>
          <a:xfrm>
            <a:off x="548640" y="6089904"/>
            <a:ext cx="406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หน้ารวมการบ้านในแอปจริง</a:t>
            </a:r>
            <a:endParaRPr lang="th-TH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828800"/>
            <a:ext cx="0" cy="356616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6"/>
          <p:cNvSpPr txBox="1"/>
          <p:nvPr/>
        </p:nvSpPr>
        <p:spPr>
          <a:xfrm>
            <a:off x="5376672" y="1536192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49961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แนะนำหนังสือและชมรมด้วย Neo4j</a:t>
            </a:r>
            <a:endParaRPr lang="th-TH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192024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Traversal 1–2 hop แนะนำหนังสือจากเพื่อน และแนะนำชมรมจาก FRIEND_OF กับ MEMBER_OF</a:t>
            </a:r>
            <a:endParaRPr lang="th-TH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76672" y="2724912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268833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Crypto Recommender ด้วย NetworkX</a:t>
            </a:r>
            <a:endParaRPr lang="th-TH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10896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สร้างกราฟด้วย Python / NetworkX แล้วแนะนำเหรียญด้วยการเดิน 3 hop</a:t>
            </a:r>
            <a:endParaRPr lang="th-TH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76672" y="3913632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03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387705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Crypto Recommender ด้วย Neo4j</a:t>
            </a:r>
            <a:endParaRPr lang="th-TH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429768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ย้ายข้อมูลชุดเดียวกันขึ้น Neo4j Aura เดินกราฟด้วย Cypher สร้าง FRIEND_OF จาก HOLDS</a:t>
            </a:r>
            <a:endParaRPr lang="th-TH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76672" y="5102352"/>
            <a:ext cx="585216" cy="585216"/>
          </a:xfrm>
          <a:prstGeom prst="ellipse">
            <a:avLst/>
          </a:prstGeom>
          <a:solidFill>
            <a:srgbClr val="111A17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04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50657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20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ระบบแนะนำเหรียญ Crypto</a:t>
            </a:r>
            <a:endParaRPr lang="th-TH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548640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แอป Streamlit ที่ต่อกับ Neo4j Aura  </a:t>
            </a:r>
            <a:r>
              <a:rPr lang="th-TH" altLang="en-US" sz="1400" b="1" dirty="0">
                <a:solidFill>
                  <a:srgbClr val="0A7A5A"/>
                </a:solidFill>
                <a:latin typeface="Anuphan"/>
                <a:ea typeface="Anuphan"/>
                <a:cs typeface="Anuphan"/>
              </a:rPr>
              <a:t>งานที่นำเสนอวันนี้</a:t>
            </a:r>
            <a:endParaRPr lang="th-TH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64008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กราฟมี Node 3 ชนิด และ Relationship 3 ชนิด</a:t>
            </a:r>
            <a:endParaRPr lang="th-TH" sz="2600" dirty="0"/>
          </a:p>
        </p:txBody>
      </p:sp>
      <p:sp>
        <p:nvSpPr>
          <p:cNvPr id="5" name="Shape 3"/>
          <p:cNvSpPr/>
          <p:nvPr/>
        </p:nvSpPr>
        <p:spPr>
          <a:xfrm>
            <a:off x="1920240" y="2203704"/>
            <a:ext cx="1188720" cy="0"/>
          </a:xfrm>
          <a:prstGeom prst="line">
            <a:avLst/>
          </a:prstGeom>
          <a:noFill/>
          <a:ln w="38100">
            <a:solidFill>
              <a:srgbClr val="5B3FA6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 txBox="1"/>
          <p:nvPr/>
        </p:nvSpPr>
        <p:spPr>
          <a:xfrm>
            <a:off x="1920240" y="1847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300" b="1" dirty="0">
                <a:solidFill>
                  <a:srgbClr val="5B3FA6"/>
                </a:solidFill>
                <a:latin typeface="Consolas"/>
                <a:ea typeface="Consolas"/>
                <a:cs typeface="Consolas"/>
              </a:rPr>
              <a:t>FRIEND_OF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1280160" cy="566928"/>
          </a:xfrm>
          <a:prstGeom prst="roundRect">
            <a:avLst>
              <a:gd name="adj" fmla="val 32258"/>
            </a:avLst>
          </a:prstGeom>
          <a:solidFill>
            <a:srgbClr val="111A17"/>
          </a:solidFill>
          <a:ln w="127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User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920240"/>
            <a:ext cx="1280160" cy="566928"/>
          </a:xfrm>
          <a:prstGeom prst="roundRect">
            <a:avLst>
              <a:gd name="adj" fmla="val 32258"/>
            </a:avLst>
          </a:prstGeom>
          <a:solidFill>
            <a:srgbClr val="111A17"/>
          </a:solidFill>
          <a:ln w="127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User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80160" y="2487168"/>
            <a:ext cx="822960" cy="1005840"/>
          </a:xfrm>
          <a:prstGeom prst="line">
            <a:avLst/>
          </a:prstGeom>
          <a:noFill/>
          <a:ln w="38100">
            <a:solidFill>
              <a:srgbClr val="0A7A5A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 flipH="1">
            <a:off x="2926080" y="2487168"/>
            <a:ext cx="822960" cy="1005840"/>
          </a:xfrm>
          <a:prstGeom prst="line">
            <a:avLst/>
          </a:prstGeom>
          <a:noFill/>
          <a:ln w="38100">
            <a:solidFill>
              <a:srgbClr val="0A7A5A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 txBox="1"/>
          <p:nvPr/>
        </p:nvSpPr>
        <p:spPr>
          <a:xfrm>
            <a:off x="50292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300" b="1" dirty="0">
                <a:solidFill>
                  <a:srgbClr val="0A7A5A"/>
                </a:solidFill>
                <a:latin typeface="Consolas"/>
                <a:ea typeface="Consolas"/>
                <a:cs typeface="Consolas"/>
              </a:rPr>
              <a:t>HOLDS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74720"/>
            <a:ext cx="16459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Coin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14600" y="4206240"/>
            <a:ext cx="0" cy="932688"/>
          </a:xfrm>
          <a:prstGeom prst="line">
            <a:avLst/>
          </a:prstGeom>
          <a:noFill/>
          <a:ln w="38100">
            <a:solidFill>
              <a:srgbClr val="B8500A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 txBox="1"/>
          <p:nvPr/>
        </p:nvSpPr>
        <p:spPr>
          <a:xfrm>
            <a:off x="269748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300" b="1" dirty="0">
                <a:solidFill>
                  <a:srgbClr val="B8500A"/>
                </a:solidFill>
                <a:latin typeface="Consolas"/>
                <a:ea typeface="Consolas"/>
                <a:cs typeface="Consolas"/>
              </a:rPr>
              <a:t>IN_CATEGORY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5138928"/>
            <a:ext cx="1645920" cy="640080"/>
          </a:xfrm>
          <a:prstGeom prst="rect">
            <a:avLst/>
          </a:prstGeom>
          <a:solidFill>
            <a:srgbClr val="EEF2F0"/>
          </a:solidFill>
          <a:ln w="3175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Category</a:t>
            </a:r>
            <a:endParaRPr lang="en-US" sz="1600" dirty="0"/>
          </a:p>
        </p:txBody>
      </p:sp>
      <p:pic>
        <p:nvPicPr>
          <p:cNvPr id="16" name="Image 0" descr="กราฟทั้งหมดในแอป 3 ชั้น ผู้ใช้ เหรียญ หมวดหมู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63040"/>
            <a:ext cx="6793992" cy="2626139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846320" y="1463040"/>
            <a:ext cx="6793992" cy="2626139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 15"/>
          <p:cNvSpPr/>
          <p:nvPr/>
        </p:nvSpPr>
        <p:spPr>
          <a:xfrm>
            <a:off x="4846320" y="4518947"/>
            <a:ext cx="384048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Text 16"/>
          <p:cNvSpPr txBox="1"/>
          <p:nvPr/>
        </p:nvSpPr>
        <p:spPr>
          <a:xfrm>
            <a:off x="5394960" y="4363499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A7A5A"/>
                </a:solidFill>
                <a:latin typeface="Consolas"/>
                <a:ea typeface="Consolas"/>
                <a:cs typeface="Consolas"/>
              </a:rPr>
              <a:t>(:User {name})-[:HOLDS]-&gt;(:Coin {symbol, image})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4692683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ผู้ใช้ถือเหรียญ</a:t>
            </a:r>
            <a:endParaRPr lang="th-TH" sz="1300" dirty="0"/>
          </a:p>
        </p:txBody>
      </p:sp>
      <p:sp>
        <p:nvSpPr>
          <p:cNvPr id="21" name="Shape 18"/>
          <p:cNvSpPr/>
          <p:nvPr/>
        </p:nvSpPr>
        <p:spPr>
          <a:xfrm>
            <a:off x="4846320" y="5232179"/>
            <a:ext cx="384048" cy="0"/>
          </a:xfrm>
          <a:prstGeom prst="line">
            <a:avLst/>
          </a:prstGeom>
          <a:noFill/>
          <a:ln w="76200">
            <a:solidFill>
              <a:srgbClr val="B8500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19"/>
          <p:cNvSpPr txBox="1"/>
          <p:nvPr/>
        </p:nvSpPr>
        <p:spPr>
          <a:xfrm>
            <a:off x="5394960" y="5076731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B8500A"/>
                </a:solidFill>
                <a:latin typeface="Consolas"/>
                <a:ea typeface="Consolas"/>
                <a:cs typeface="Consolas"/>
              </a:rPr>
              <a:t>(:Coin)-[:IN_CATEGORY]-&gt;(:Category {name})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394960" y="5405915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เหรียญอยู่ในหมวด เหรียญละไม่เกิน 1 หมวด</a:t>
            </a:r>
            <a:endParaRPr lang="th-TH" sz="1300" dirty="0"/>
          </a:p>
        </p:txBody>
      </p:sp>
      <p:sp>
        <p:nvSpPr>
          <p:cNvPr id="24" name="Shape 21"/>
          <p:cNvSpPr/>
          <p:nvPr/>
        </p:nvSpPr>
        <p:spPr>
          <a:xfrm>
            <a:off x="4846320" y="5945411"/>
            <a:ext cx="384048" cy="0"/>
          </a:xfrm>
          <a:prstGeom prst="line">
            <a:avLst/>
          </a:prstGeom>
          <a:noFill/>
          <a:ln w="76200">
            <a:solidFill>
              <a:srgbClr val="5B3FA6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Text 22"/>
          <p:cNvSpPr txBox="1"/>
          <p:nvPr/>
        </p:nvSpPr>
        <p:spPr>
          <a:xfrm>
            <a:off x="5394960" y="5789963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5B3FA6"/>
                </a:solidFill>
                <a:latin typeface="Consolas"/>
                <a:ea typeface="Consolas"/>
                <a:cs typeface="Consolas"/>
              </a:rPr>
              <a:t>(:User)-[:FRIEND_OF {shared_coins, weight}]-&gt;(:User)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394960" y="6119147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ผู้ใช้ 2 คนถือเหรียญเดียวกันอย่างน้อย 1 เหรียญ ระบบคำนวณจาก HOLDS เอง</a:t>
            </a:r>
            <a:endParaRPr lang="th-TH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64008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ข้อมูลตัวอย่างเล็กพอจะตามเส้นทางด้วยตาได้</a:t>
            </a:r>
            <a:endParaRPr lang="th-TH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2035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4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10</a:t>
            </a:r>
            <a:endParaRPr lang="th-TH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12848"/>
            <a:ext cx="2035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ผู้ใช้</a:t>
            </a:r>
            <a:endParaRPr lang="th-TH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66974" y="1417320"/>
            <a:ext cx="2035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4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8</a:t>
            </a:r>
            <a:endParaRPr lang="th-TH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766974" y="2212848"/>
            <a:ext cx="2035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เหรียญ</a:t>
            </a:r>
            <a:endParaRPr lang="th-TH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85309" y="1417320"/>
            <a:ext cx="2035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4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4</a:t>
            </a:r>
            <a:endParaRPr lang="th-TH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985309" y="2212848"/>
            <a:ext cx="2035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หมวดหมู่</a:t>
            </a:r>
            <a:endParaRPr lang="th-TH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03643" y="1417320"/>
            <a:ext cx="2035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4400" b="1" dirty="0">
                <a:solidFill>
                  <a:srgbClr val="0A7A5A"/>
                </a:solidFill>
                <a:latin typeface="Anuphan"/>
                <a:ea typeface="Anuphan"/>
                <a:cs typeface="Anuphan"/>
              </a:rPr>
              <a:t>26</a:t>
            </a:r>
            <a:endParaRPr lang="th-TH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203643" y="2212848"/>
            <a:ext cx="2035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HOLDS</a:t>
            </a:r>
            <a:endParaRPr lang="th-TH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421978" y="1417320"/>
            <a:ext cx="203545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4400" b="1" dirty="0">
                <a:solidFill>
                  <a:srgbClr val="5B3FA6"/>
                </a:solidFill>
                <a:latin typeface="Anuphan"/>
                <a:ea typeface="Anuphan"/>
                <a:cs typeface="Anuphan"/>
              </a:rPr>
              <a:t>27</a:t>
            </a:r>
            <a:endParaRPr lang="th-TH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421978" y="2212848"/>
            <a:ext cx="2035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FRIEND_OF</a:t>
            </a:r>
            <a:endParaRPr lang="th-TH" sz="1400" dirty="0"/>
          </a:p>
        </p:txBody>
      </p:sp>
      <p:pic>
        <p:nvPicPr>
          <p:cNvPr id="15" name="Image 0" descr="หน้าตั้งค่าข้อมูล แสดงจำนวน Node และ Relationship ในฐานข้อมูลจริ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5486400" cy="198354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2926080"/>
            <a:ext cx="5486400" cy="1983545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Text 14"/>
          <p:cNvSpPr txBox="1"/>
          <p:nvPr/>
        </p:nvSpPr>
        <p:spPr>
          <a:xfrm>
            <a:off x="548640" y="497363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หน้าตั้งค่าข้อมูลของแอป นับจากฐานข้อมูลจริงบน Neo4j Aura</a:t>
            </a:r>
            <a:endParaRPr lang="th-TH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หมวดหมู่  </a:t>
            </a:r>
            <a:r>
              <a:rPr lang="th-TH" altLang="en-US" sz="14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Layer1 (BTC, ETH, SOL, ADA) · Exchange (BNB) · Payment (XRP) · Meme (DOGE, PEPE)</a:t>
            </a:r>
            <a:endParaRPr lang="th-TH" sz="1400" dirty="0"/>
          </a:p>
        </p:txBody>
      </p:sp>
      <p:sp>
        <p:nvSpPr>
          <p:cNvPr id="19" name="Shape 16"/>
          <p:cNvSpPr/>
          <p:nvPr/>
        </p:nvSpPr>
        <p:spPr>
          <a:xfrm>
            <a:off x="6355080" y="2926080"/>
            <a:ext cx="5285232" cy="3246120"/>
          </a:xfrm>
          <a:prstGeom prst="rect">
            <a:avLst/>
          </a:prstGeom>
          <a:solidFill>
            <a:srgbClr val="EEF2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7"/>
          <p:cNvSpPr txBox="1"/>
          <p:nvPr/>
        </p:nvSpPr>
        <p:spPr>
          <a:xfrm>
            <a:off x="6629400" y="3090672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b="1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ใครถือเหรียญอะไร</a:t>
            </a:r>
            <a:endParaRPr lang="th-TH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36118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Anan</a:t>
            </a:r>
            <a:r>
              <a:rPr lang="en-US" altLang="en-US" sz="14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 → BTC, ETH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40873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Bee </a:t>
            </a:r>
            <a:r>
              <a:rPr lang="en-US" altLang="en-US" sz="14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 → BTC, ETH, SOL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629400" y="456285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Chai</a:t>
            </a:r>
            <a:r>
              <a:rPr lang="en-US" altLang="en-US" sz="14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 → BTC, BNB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50383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Dao </a:t>
            </a:r>
            <a:r>
              <a:rPr lang="en-US" altLang="en-US" sz="14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 → SOL, DOGE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629400" y="55138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Earn</a:t>
            </a:r>
            <a:r>
              <a:rPr lang="en-US" altLang="en-US" sz="14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 → ETH, SOL, ADA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961120" y="36118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Fah </a:t>
            </a:r>
            <a:r>
              <a:rPr lang="en-US" altLang="en-US" sz="14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 → BTC, XRP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961120" y="40873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Gun </a:t>
            </a:r>
            <a:r>
              <a:rPr lang="en-US" altLang="en-US" sz="14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 → DOGE, PEPE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961120" y="45628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Ice </a:t>
            </a:r>
            <a:r>
              <a:rPr lang="en-US" altLang="en-US" sz="14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 → ETH, ADA, XRP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961120" y="50383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Jane</a:t>
            </a:r>
            <a:r>
              <a:rPr lang="en-US" altLang="en-US" sz="14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 → BTC, ETH, BNB, SOL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961120" y="55138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b="1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Kong</a:t>
            </a:r>
            <a:r>
              <a:rPr lang="en-US" altLang="en-US" sz="14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 → SOL, PEPE, DOGE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64008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คะแนนคือจำนวนเส้นทาง: SOL ได้ 5 เพราะเดินถึงได้ 5 ทาง</a:t>
            </a:r>
            <a:endParaRPr lang="th-TH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126480" cy="2103120"/>
          </a:xfrm>
          <a:prstGeom prst="rect">
            <a:avLst/>
          </a:prstGeom>
          <a:solidFill>
            <a:srgbClr val="EEF2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MATCH (me:User {name: $name})-[:HOLDS]-&gt;(via:Coin)</a:t>
            </a:r>
            <a:endParaRPr lang="en-US" sz="1600" dirty="0"/>
          </a:p>
          <a:p>
            <a:pPr marL="0" indent="0" algn="l">
              <a:buNone/>
            </a:pPr>
            <a:r>
              <a:rPr lang="en-US" altLang="en-US" sz="16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      &lt;-[:HOLDS]-(other:User)-[:HOLDS]-&gt;(rec:Coin)</a:t>
            </a:r>
            <a:endParaRPr lang="en-US" sz="1600" dirty="0"/>
          </a:p>
          <a:p>
            <a:pPr marL="0" indent="0" algn="l">
              <a:buNone/>
            </a:pPr>
            <a:r>
              <a:rPr lang="en-US" altLang="en-US" sz="16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WHERE other &lt;&gt; me</a:t>
            </a:r>
            <a:endParaRPr lang="en-US" sz="1600" dirty="0"/>
          </a:p>
          <a:p>
            <a:pPr marL="0" indent="0" algn="l">
              <a:buNone/>
            </a:pPr>
            <a:r>
              <a:rPr lang="en-US" altLang="en-US" sz="16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  AND NOT EXISTS { MATCH (me)-[:HOLDS]-&gt;(rec) }</a:t>
            </a:r>
            <a:endParaRPr lang="en-US" sz="1600" dirty="0"/>
          </a:p>
          <a:p>
            <a:pPr marL="0" indent="0" algn="l">
              <a:buNone/>
            </a:pPr>
            <a:r>
              <a:rPr lang="en-US" altLang="en-US" sz="1600" b="1" dirty="0">
                <a:solidFill>
                  <a:srgbClr val="0A7A5A"/>
                </a:solidFill>
                <a:latin typeface="Consolas"/>
                <a:ea typeface="Consolas"/>
                <a:cs typeface="Consolas"/>
              </a:rPr>
              <a:t>RETURN rec.symbol AS coin, count(*) AS score</a:t>
            </a:r>
            <a:endParaRPr lang="en-US" sz="1600" dirty="0"/>
          </a:p>
          <a:p>
            <a:pPr marL="0" indent="0" algn="l">
              <a:buNone/>
            </a:pPr>
            <a:r>
              <a:rPr lang="en-US" altLang="en-US" sz="16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ORDER BY score DESC, coin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6732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6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count(*) นับทุกเส้นทางที่ไปจบที่เหรียญเดียวกัน</a:t>
            </a:r>
            <a:endParaRPr lang="th-TH" sz="1600" dirty="0"/>
          </a:p>
          <a:p>
            <a:pPr marL="0" indent="0" algn="l">
              <a:buNone/>
            </a:pPr>
            <a:r>
              <a:rPr lang="th-TH" altLang="en-US" sz="16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คะแนนจึงเท่ากับจำนวนเส้นทาง</a:t>
            </a:r>
            <a:endParaRPr lang="th-TH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5488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ผลของ Anan (ถือ BTC และ ETH)</a:t>
            </a:r>
            <a:endParaRPr lang="th-TH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166360"/>
            <a:ext cx="1394460" cy="960120"/>
          </a:xfrm>
          <a:prstGeom prst="rect">
            <a:avLst/>
          </a:prstGeom>
          <a:solidFill>
            <a:srgbClr val="EEF2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 txBox="1"/>
          <p:nvPr/>
        </p:nvSpPr>
        <p:spPr>
          <a:xfrm>
            <a:off x="731520" y="5166360"/>
            <a:ext cx="11201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SOL  </a:t>
            </a:r>
            <a:r>
              <a:rPr lang="th-TH" altLang="en-US" sz="3000" b="1" dirty="0">
                <a:solidFill>
                  <a:srgbClr val="0A7A5A"/>
                </a:solidFill>
                <a:latin typeface="Anuphan"/>
                <a:ea typeface="Anuphan"/>
                <a:cs typeface="Anuphan"/>
              </a:rPr>
              <a:t>5</a:t>
            </a:r>
            <a:endParaRPr lang="th-TH" sz="1400" dirty="0"/>
          </a:p>
        </p:txBody>
      </p:sp>
      <p:sp>
        <p:nvSpPr>
          <p:cNvPr id="11" name="Shape 9"/>
          <p:cNvSpPr/>
          <p:nvPr/>
        </p:nvSpPr>
        <p:spPr>
          <a:xfrm>
            <a:off x="2125980" y="5166360"/>
            <a:ext cx="1394460" cy="960120"/>
          </a:xfrm>
          <a:prstGeom prst="rect">
            <a:avLst/>
          </a:prstGeom>
          <a:solidFill>
            <a:srgbClr val="EEF2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 txBox="1"/>
          <p:nvPr/>
        </p:nvSpPr>
        <p:spPr>
          <a:xfrm>
            <a:off x="2308860" y="5166360"/>
            <a:ext cx="11201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BNB  </a:t>
            </a:r>
            <a:r>
              <a:rPr lang="th-TH" altLang="en-US" sz="3000" b="1" dirty="0">
                <a:solidFill>
                  <a:srgbClr val="0A7A5A"/>
                </a:solidFill>
                <a:latin typeface="Anuphan"/>
                <a:ea typeface="Anuphan"/>
                <a:cs typeface="Anuphan"/>
              </a:rPr>
              <a:t>3</a:t>
            </a:r>
            <a:endParaRPr lang="th-TH" sz="1400" dirty="0"/>
          </a:p>
        </p:txBody>
      </p:sp>
      <p:sp>
        <p:nvSpPr>
          <p:cNvPr id="13" name="Shape 11"/>
          <p:cNvSpPr/>
          <p:nvPr/>
        </p:nvSpPr>
        <p:spPr>
          <a:xfrm>
            <a:off x="3703320" y="5166360"/>
            <a:ext cx="1394460" cy="960120"/>
          </a:xfrm>
          <a:prstGeom prst="rect">
            <a:avLst/>
          </a:prstGeom>
          <a:solidFill>
            <a:srgbClr val="EEF2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 txBox="1"/>
          <p:nvPr/>
        </p:nvSpPr>
        <p:spPr>
          <a:xfrm>
            <a:off x="3886200" y="5166360"/>
            <a:ext cx="11201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ADA  </a:t>
            </a:r>
            <a:r>
              <a:rPr lang="th-TH" altLang="en-US" sz="3000" b="1" dirty="0">
                <a:solidFill>
                  <a:srgbClr val="0A7A5A"/>
                </a:solidFill>
                <a:latin typeface="Anuphan"/>
                <a:ea typeface="Anuphan"/>
                <a:cs typeface="Anuphan"/>
              </a:rPr>
              <a:t>2</a:t>
            </a:r>
            <a:endParaRPr lang="th-TH" sz="1400" dirty="0"/>
          </a:p>
        </p:txBody>
      </p:sp>
      <p:sp>
        <p:nvSpPr>
          <p:cNvPr id="15" name="Shape 13"/>
          <p:cNvSpPr/>
          <p:nvPr/>
        </p:nvSpPr>
        <p:spPr>
          <a:xfrm>
            <a:off x="5280660" y="5166360"/>
            <a:ext cx="1394460" cy="960120"/>
          </a:xfrm>
          <a:prstGeom prst="rect">
            <a:avLst/>
          </a:prstGeom>
          <a:solidFill>
            <a:srgbClr val="EEF2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 txBox="1"/>
          <p:nvPr/>
        </p:nvSpPr>
        <p:spPr>
          <a:xfrm>
            <a:off x="5463540" y="5166360"/>
            <a:ext cx="11201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XRP  </a:t>
            </a:r>
            <a:r>
              <a:rPr lang="th-TH" altLang="en-US" sz="3000" b="1" dirty="0">
                <a:solidFill>
                  <a:srgbClr val="0A7A5A"/>
                </a:solidFill>
                <a:latin typeface="Anuphan"/>
                <a:ea typeface="Anuphan"/>
                <a:cs typeface="Anuphan"/>
              </a:rPr>
              <a:t>2</a:t>
            </a:r>
            <a:endParaRPr lang="th-TH" sz="1400" dirty="0"/>
          </a:p>
        </p:txBody>
      </p:sp>
      <p:pic>
        <p:nvPicPr>
          <p:cNvPr id="17" name="Image 0" descr="ภาพจากแอป SOL 5 เส้นทาง แสดง 3 เส้นทางแรก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463040"/>
            <a:ext cx="4690872" cy="2153187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949440" y="1463040"/>
            <a:ext cx="4690872" cy="2153187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Text 16"/>
          <p:cNvSpPr txBox="1"/>
          <p:nvPr/>
        </p:nvSpPr>
        <p:spPr>
          <a:xfrm>
            <a:off x="6949440" y="3680235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ภาพจากแอป: 3 เส้นทางแรกของ SOL</a:t>
            </a:r>
            <a:endParaRPr lang="th-TH" sz="1200" dirty="0"/>
          </a:p>
        </p:txBody>
      </p:sp>
      <p:sp>
        <p:nvSpPr>
          <p:cNvPr id="20" name="Shape 17"/>
          <p:cNvSpPr/>
          <p:nvPr/>
        </p:nvSpPr>
        <p:spPr>
          <a:xfrm>
            <a:off x="6949440" y="4023360"/>
            <a:ext cx="4690872" cy="2103120"/>
          </a:xfrm>
          <a:prstGeom prst="rect">
            <a:avLst/>
          </a:prstGeom>
          <a:solidFill>
            <a:srgbClr val="EEF2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Text 18"/>
          <p:cNvSpPr txBox="1"/>
          <p:nvPr/>
        </p:nvSpPr>
        <p:spPr>
          <a:xfrm>
            <a:off x="7223760" y="4178808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300" b="1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ครบทั้ง 5 เส้นทางที่ไปถึง SOL</a:t>
            </a:r>
            <a:endParaRPr lang="th-TH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4572000"/>
            <a:ext cx="41422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Anan → BTC → Bee  → SOL</a:t>
            </a:r>
            <a:endParaRPr lang="en-US" sz="1500" dirty="0"/>
          </a:p>
          <a:p>
            <a:pPr marL="0" indent="0" algn="l">
              <a:buNone/>
            </a:pPr>
            <a:r>
              <a:rPr lang="en-US" altLang="en-US" sz="15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Anan → BTC → Jane → SOL</a:t>
            </a:r>
            <a:endParaRPr lang="en-US" sz="1500" dirty="0"/>
          </a:p>
          <a:p>
            <a:pPr marL="0" indent="0" algn="l">
              <a:buNone/>
            </a:pPr>
            <a:r>
              <a:rPr lang="en-US" altLang="en-US" sz="15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Anan → ETH → Bee  → SOL</a:t>
            </a:r>
            <a:endParaRPr lang="en-US" sz="1500" dirty="0"/>
          </a:p>
          <a:p>
            <a:pPr marL="0" indent="0" algn="l">
              <a:buNone/>
            </a:pPr>
            <a:r>
              <a:rPr lang="en-US" altLang="en-US" sz="15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Anan → ETH → Earn → SOL</a:t>
            </a:r>
            <a:endParaRPr lang="en-US" sz="1500" dirty="0"/>
          </a:p>
          <a:p>
            <a:pPr marL="0" indent="0" algn="l">
              <a:buNone/>
            </a:pPr>
            <a:r>
              <a:rPr lang="en-US" altLang="en-US" sz="15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Anan → ETH → Jane → SOL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64008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แอปวาดทุกเส้นทางให้เห็น คำแนะนำจึงตรวจสอบได้</a:t>
            </a:r>
            <a:endParaRPr lang="th-TH" sz="2600" dirty="0"/>
          </a:p>
        </p:txBody>
      </p:sp>
      <p:pic>
        <p:nvPicPr>
          <p:cNvPr id="5" name="Image 0" descr="หน้าแนะนำเหรียญของ Anan แบบเดิน 3 hop ผ่าน HOL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858000" cy="42377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63040"/>
            <a:ext cx="6858000" cy="4237726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" name="Text 4"/>
          <p:cNvSpPr txBox="1"/>
          <p:nvPr/>
        </p:nvSpPr>
        <p:spPr>
          <a:xfrm>
            <a:off x="548640" y="576477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หน้าแนะนำเหรียญของ Anan แบบเดิน 3 hop ผ่าน HOLDS</a:t>
            </a:r>
            <a:endParaRPr lang="th-TH" sz="1200" dirty="0"/>
          </a:p>
        </p:txBody>
      </p:sp>
      <p:pic>
        <p:nvPicPr>
          <p:cNvPr id="8" name="Image 1" descr="BNB 3 เส้นทา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463040"/>
            <a:ext cx="3959352" cy="15253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680960" y="1463040"/>
            <a:ext cx="3959352" cy="1525324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10" name="Image 2" descr="ADA 2 เส้นทาง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171244"/>
            <a:ext cx="3959352" cy="120078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680960" y="3171244"/>
            <a:ext cx="3959352" cy="1200787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7"/>
          <p:cNvSpPr txBox="1"/>
          <p:nvPr/>
        </p:nvSpPr>
        <p:spPr>
          <a:xfrm>
            <a:off x="7680960" y="4646351"/>
            <a:ext cx="3959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ทุกคะแนนมีเส้นทางรองรับ</a:t>
            </a:r>
            <a:endParaRPr lang="th-TH" sz="1400" dirty="0"/>
          </a:p>
          <a:p>
            <a:pPr marL="0" indent="0" algn="l">
              <a:buNone/>
            </a:pPr>
            <a:r>
              <a:rPr lang="th-TH" altLang="en-US" sz="16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SOL 5 เส้น · BNB 3 เส้น · ADA 2 เส้น</a:t>
            </a:r>
            <a:endParaRPr lang="th-TH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64008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FRIEND_OF ย่อ 3 hop ให้เหลือ 2 hop โดยคะแนนเท่าเดิม</a:t>
            </a:r>
            <a:endParaRPr lang="th-TH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355080" cy="1828800"/>
          </a:xfrm>
          <a:prstGeom prst="rect">
            <a:avLst/>
          </a:prstGeom>
          <a:solidFill>
            <a:srgbClr val="EEF2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5897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MATCH (a:User)-[:HOLDS]-&gt;(c:Coin)&lt;-[:HOLDS]-(b:User)</a:t>
            </a:r>
            <a:endParaRPr lang="en-US" sz="1600" dirty="0"/>
          </a:p>
          <a:p>
            <a:pPr marL="0" indent="0" algn="l">
              <a:buNone/>
            </a:pPr>
            <a:r>
              <a:rPr lang="en-US" altLang="en-US" sz="16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WHERE a.name &lt; b.name</a:t>
            </a:r>
            <a:endParaRPr lang="en-US" sz="1600" dirty="0"/>
          </a:p>
          <a:p>
            <a:pPr marL="0" indent="0" algn="l">
              <a:buNone/>
            </a:pPr>
            <a:r>
              <a:rPr lang="en-US" altLang="en-US" sz="16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WITH a, b, collect(c.symbol) AS shared</a:t>
            </a:r>
            <a:endParaRPr lang="en-US" sz="1600" dirty="0"/>
          </a:p>
          <a:p>
            <a:pPr marL="0" indent="0" algn="l">
              <a:buNone/>
            </a:pPr>
            <a:r>
              <a:rPr lang="en-US" altLang="en-US" sz="1600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MERGE (a)-[f:FRIEND_OF]-&gt;(b)</a:t>
            </a:r>
            <a:endParaRPr lang="en-US" sz="1600" dirty="0"/>
          </a:p>
          <a:p>
            <a:pPr marL="0" indent="0" algn="l">
              <a:buNone/>
            </a:pPr>
            <a:r>
              <a:rPr lang="en-US" altLang="en-US" sz="1600" b="1" dirty="0">
                <a:solidFill>
                  <a:srgbClr val="0A7A5A"/>
                </a:solidFill>
                <a:latin typeface="Consolas"/>
                <a:ea typeface="Consolas"/>
                <a:cs typeface="Consolas"/>
              </a:rPr>
              <a:t>SET f.shared_coins = shared, f.weight = size(shared)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93008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600" b="1" dirty="0">
                <a:solidFill>
                  <a:srgbClr val="5B3FA6"/>
                </a:solidFill>
                <a:latin typeface="Consolas"/>
                <a:ea typeface="Consolas"/>
                <a:cs typeface="Consolas"/>
              </a:rPr>
              <a:t>weight</a:t>
            </a:r>
            <a:r>
              <a:rPr lang="th-TH" altLang="en-US" sz="16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= จำนวนเหรียญที่ถือร่วมกัน</a:t>
            </a:r>
            <a:endParaRPr lang="th-TH" sz="1600" dirty="0"/>
          </a:p>
          <a:p>
            <a:pPr marL="0" indent="0" algn="l">
              <a:buNone/>
            </a:pPr>
            <a:r>
              <a:rPr lang="th-TH" altLang="en-US" sz="16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= จำนวนเส้นทาง 3 hop ที่ผ่านเพื่อนคนนั้น</a:t>
            </a:r>
            <a:endParaRPr lang="th-TH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คะแนนของ Anan = ผลรวม weight ของเพื่อนที่ถือเหรียญนั้น</a:t>
            </a:r>
            <a:endParaRPr lang="th-TH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SOL</a:t>
            </a:r>
            <a:r>
              <a:rPr lang="th-TH" altLang="en-US" sz="18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 =  Bee </a:t>
            </a:r>
            <a:r>
              <a:rPr lang="th-TH" altLang="en-US" sz="1800" b="1" dirty="0">
                <a:solidFill>
                  <a:srgbClr val="5B3FA6"/>
                </a:solidFill>
                <a:latin typeface="Anuphan"/>
                <a:ea typeface="Anuphan"/>
                <a:cs typeface="Anuphan"/>
              </a:rPr>
              <a:t>2</a:t>
            </a:r>
            <a:r>
              <a:rPr lang="th-TH" altLang="en-US" sz="18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 +  Jane </a:t>
            </a:r>
            <a:r>
              <a:rPr lang="th-TH" altLang="en-US" sz="1800" b="1" dirty="0">
                <a:solidFill>
                  <a:srgbClr val="5B3FA6"/>
                </a:solidFill>
                <a:latin typeface="Anuphan"/>
                <a:ea typeface="Anuphan"/>
                <a:cs typeface="Anuphan"/>
              </a:rPr>
              <a:t>2</a:t>
            </a:r>
            <a:r>
              <a:rPr lang="th-TH" altLang="en-US" sz="18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 +  Earn </a:t>
            </a:r>
            <a:r>
              <a:rPr lang="th-TH" altLang="en-US" sz="1800" b="1" dirty="0">
                <a:solidFill>
                  <a:srgbClr val="5B3FA6"/>
                </a:solidFill>
                <a:latin typeface="Anuphan"/>
                <a:ea typeface="Anuphan"/>
                <a:cs typeface="Anuphan"/>
              </a:rPr>
              <a:t>1</a:t>
            </a:r>
            <a:r>
              <a:rPr lang="th-TH" altLang="en-US" sz="18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 =  </a:t>
            </a: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5</a:t>
            </a:r>
            <a:endParaRPr lang="th-TH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30368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BNB</a:t>
            </a:r>
            <a:r>
              <a:rPr lang="th-TH" altLang="en-US" sz="18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 =  Jane </a:t>
            </a:r>
            <a:r>
              <a:rPr lang="th-TH" altLang="en-US" sz="1800" b="1" dirty="0">
                <a:solidFill>
                  <a:srgbClr val="5B3FA6"/>
                </a:solidFill>
                <a:latin typeface="Anuphan"/>
                <a:ea typeface="Anuphan"/>
                <a:cs typeface="Anuphan"/>
              </a:rPr>
              <a:t>2</a:t>
            </a:r>
            <a:r>
              <a:rPr lang="th-TH" altLang="en-US" sz="18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 +  Chai </a:t>
            </a:r>
            <a:r>
              <a:rPr lang="th-TH" altLang="en-US" sz="1800" b="1" dirty="0">
                <a:solidFill>
                  <a:srgbClr val="5B3FA6"/>
                </a:solidFill>
                <a:latin typeface="Anuphan"/>
                <a:ea typeface="Anuphan"/>
                <a:cs typeface="Anuphan"/>
              </a:rPr>
              <a:t>1</a:t>
            </a:r>
            <a:r>
              <a:rPr lang="th-TH" altLang="en-US" sz="18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 =  </a:t>
            </a: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3</a:t>
            </a:r>
            <a:endParaRPr lang="th-TH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05856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ADA</a:t>
            </a:r>
            <a:r>
              <a:rPr lang="th-TH" altLang="en-US" sz="18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 =  Earn </a:t>
            </a:r>
            <a:r>
              <a:rPr lang="th-TH" altLang="en-US" sz="1800" b="1" dirty="0">
                <a:solidFill>
                  <a:srgbClr val="5B3FA6"/>
                </a:solidFill>
                <a:latin typeface="Anuphan"/>
                <a:ea typeface="Anuphan"/>
                <a:cs typeface="Anuphan"/>
              </a:rPr>
              <a:t>1</a:t>
            </a:r>
            <a:r>
              <a:rPr lang="th-TH" altLang="en-US" sz="18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 +  Ice </a:t>
            </a:r>
            <a:r>
              <a:rPr lang="th-TH" altLang="en-US" sz="1800" b="1" dirty="0">
                <a:solidFill>
                  <a:srgbClr val="5B3FA6"/>
                </a:solidFill>
                <a:latin typeface="Anuphan"/>
                <a:ea typeface="Anuphan"/>
                <a:cs typeface="Anuphan"/>
              </a:rPr>
              <a:t>1</a:t>
            </a:r>
            <a:r>
              <a:rPr lang="th-TH" altLang="en-US" sz="18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 =  </a:t>
            </a: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2</a:t>
            </a:r>
            <a:endParaRPr lang="th-TH" sz="1800" dirty="0"/>
          </a:p>
        </p:txBody>
      </p:sp>
      <p:pic>
        <p:nvPicPr>
          <p:cNvPr id="12" name="Image 0" descr="แนะนำแบบผ่านเพื่อน SOL 5 จากเพื่อน 3 ค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63040"/>
            <a:ext cx="4462272" cy="243230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78040" y="1463040"/>
            <a:ext cx="4462272" cy="2432304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Text 11"/>
          <p:cNvSpPr txBox="1"/>
          <p:nvPr/>
        </p:nvSpPr>
        <p:spPr>
          <a:xfrm>
            <a:off x="7178040" y="395935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ภาพจากแอป: เส้นม่วงคือ FRIEND_OF เส้นเขียวคือ HOLDS</a:t>
            </a:r>
            <a:endParaRPr lang="th-TH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45994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3 hop</a:t>
            </a:r>
            <a:endParaRPr lang="th-TH" sz="1400" dirty="0"/>
          </a:p>
        </p:txBody>
      </p:sp>
      <p:sp>
        <p:nvSpPr>
          <p:cNvPr id="16" name="Shape 13"/>
          <p:cNvSpPr/>
          <p:nvPr/>
        </p:nvSpPr>
        <p:spPr>
          <a:xfrm>
            <a:off x="8321040" y="4754880"/>
            <a:ext cx="978408" cy="0"/>
          </a:xfrm>
          <a:prstGeom prst="line">
            <a:avLst/>
          </a:prstGeom>
          <a:noFill/>
          <a:ln w="635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 14"/>
          <p:cNvSpPr/>
          <p:nvPr/>
        </p:nvSpPr>
        <p:spPr>
          <a:xfrm>
            <a:off x="9299448" y="4754880"/>
            <a:ext cx="969264" cy="0"/>
          </a:xfrm>
          <a:prstGeom prst="line">
            <a:avLst/>
          </a:prstGeom>
          <a:noFill/>
          <a:ln w="635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 15"/>
          <p:cNvSpPr/>
          <p:nvPr/>
        </p:nvSpPr>
        <p:spPr>
          <a:xfrm>
            <a:off x="10268712" y="4754880"/>
            <a:ext cx="978408" cy="0"/>
          </a:xfrm>
          <a:prstGeom prst="line">
            <a:avLst/>
          </a:prstGeom>
          <a:noFill/>
          <a:ln w="635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 16"/>
          <p:cNvSpPr/>
          <p:nvPr/>
        </p:nvSpPr>
        <p:spPr>
          <a:xfrm>
            <a:off x="8202168" y="4636008"/>
            <a:ext cx="237744" cy="237744"/>
          </a:xfrm>
          <a:prstGeom prst="ellipse">
            <a:avLst/>
          </a:prstGeom>
          <a:solidFill>
            <a:srgbClr val="111A17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0" name="Text 17"/>
          <p:cNvSpPr txBox="1"/>
          <p:nvPr/>
        </p:nvSpPr>
        <p:spPr>
          <a:xfrm>
            <a:off x="7772400" y="4937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ผู้ใช้</a:t>
            </a:r>
            <a:endParaRPr lang="th-TH" sz="1200" dirty="0"/>
          </a:p>
        </p:txBody>
      </p:sp>
      <p:sp>
        <p:nvSpPr>
          <p:cNvPr id="21" name="Shape 18"/>
          <p:cNvSpPr/>
          <p:nvPr/>
        </p:nvSpPr>
        <p:spPr>
          <a:xfrm>
            <a:off x="9180576" y="463600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19"/>
          <p:cNvSpPr txBox="1"/>
          <p:nvPr/>
        </p:nvSpPr>
        <p:spPr>
          <a:xfrm>
            <a:off x="8750808" y="4937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เหรียญ</a:t>
            </a:r>
            <a:endParaRPr lang="th-TH" sz="1200" dirty="0"/>
          </a:p>
        </p:txBody>
      </p:sp>
      <p:sp>
        <p:nvSpPr>
          <p:cNvPr id="23" name="Shape 20"/>
          <p:cNvSpPr/>
          <p:nvPr/>
        </p:nvSpPr>
        <p:spPr>
          <a:xfrm>
            <a:off x="10149840" y="463600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4" name="Text 21"/>
          <p:cNvSpPr txBox="1"/>
          <p:nvPr/>
        </p:nvSpPr>
        <p:spPr>
          <a:xfrm>
            <a:off x="9720072" y="4937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ผู้ใช้</a:t>
            </a:r>
            <a:endParaRPr lang="th-TH" sz="1200" dirty="0"/>
          </a:p>
        </p:txBody>
      </p:sp>
      <p:sp>
        <p:nvSpPr>
          <p:cNvPr id="25" name="Shape 22"/>
          <p:cNvSpPr/>
          <p:nvPr/>
        </p:nvSpPr>
        <p:spPr>
          <a:xfrm>
            <a:off x="11128248" y="463600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6" name="Text 23"/>
          <p:cNvSpPr txBox="1"/>
          <p:nvPr/>
        </p:nvSpPr>
        <p:spPr>
          <a:xfrm>
            <a:off x="10698480" y="4937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เหรียญ</a:t>
            </a:r>
            <a:endParaRPr lang="th-TH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178040" y="54681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2 hop</a:t>
            </a:r>
            <a:endParaRPr lang="th-TH" sz="1400" dirty="0"/>
          </a:p>
        </p:txBody>
      </p:sp>
      <p:sp>
        <p:nvSpPr>
          <p:cNvPr id="28" name="Shape 25"/>
          <p:cNvSpPr/>
          <p:nvPr/>
        </p:nvSpPr>
        <p:spPr>
          <a:xfrm>
            <a:off x="8321040" y="5623560"/>
            <a:ext cx="1463040" cy="0"/>
          </a:xfrm>
          <a:prstGeom prst="line">
            <a:avLst/>
          </a:prstGeom>
          <a:noFill/>
          <a:ln w="63500">
            <a:solidFill>
              <a:srgbClr val="5B3FA6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 26"/>
          <p:cNvSpPr/>
          <p:nvPr/>
        </p:nvSpPr>
        <p:spPr>
          <a:xfrm>
            <a:off x="9784080" y="5623560"/>
            <a:ext cx="1463040" cy="0"/>
          </a:xfrm>
          <a:prstGeom prst="line">
            <a:avLst/>
          </a:prstGeom>
          <a:noFill/>
          <a:ln w="635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 27"/>
          <p:cNvSpPr/>
          <p:nvPr/>
        </p:nvSpPr>
        <p:spPr>
          <a:xfrm>
            <a:off x="8202168" y="5504688"/>
            <a:ext cx="237744" cy="237744"/>
          </a:xfrm>
          <a:prstGeom prst="ellipse">
            <a:avLst/>
          </a:prstGeom>
          <a:solidFill>
            <a:srgbClr val="111A17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1" name="Text 28"/>
          <p:cNvSpPr txBox="1"/>
          <p:nvPr/>
        </p:nvSpPr>
        <p:spPr>
          <a:xfrm>
            <a:off x="7772400" y="5806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ผู้ใช้</a:t>
            </a:r>
            <a:endParaRPr lang="th-TH" sz="1200" dirty="0"/>
          </a:p>
        </p:txBody>
      </p:sp>
      <p:sp>
        <p:nvSpPr>
          <p:cNvPr id="32" name="Shape 29"/>
          <p:cNvSpPr/>
          <p:nvPr/>
        </p:nvSpPr>
        <p:spPr>
          <a:xfrm>
            <a:off x="9665208" y="550468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3" name="Text 30"/>
          <p:cNvSpPr txBox="1"/>
          <p:nvPr/>
        </p:nvSpPr>
        <p:spPr>
          <a:xfrm>
            <a:off x="9235440" y="5806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เพื่อน</a:t>
            </a:r>
            <a:endParaRPr lang="th-TH" sz="1200" dirty="0"/>
          </a:p>
        </p:txBody>
      </p:sp>
      <p:sp>
        <p:nvSpPr>
          <p:cNvPr id="34" name="Shape 31"/>
          <p:cNvSpPr/>
          <p:nvPr/>
        </p:nvSpPr>
        <p:spPr>
          <a:xfrm>
            <a:off x="11128248" y="550468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5" name="Text 32"/>
          <p:cNvSpPr txBox="1"/>
          <p:nvPr/>
        </p:nvSpPr>
        <p:spPr>
          <a:xfrm>
            <a:off x="10698480" y="5806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เหรียญ</a:t>
            </a:r>
            <a:endParaRPr lang="th-TH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64008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หมวดหมู่ช่วยแนะนำได้โดยไม่ต้องพึ่งผู้ใช้คนอื่น</a:t>
            </a:r>
            <a:endParaRPr lang="th-TH" sz="2600" dirty="0"/>
          </a:p>
        </p:txBody>
      </p:sp>
      <p:pic>
        <p:nvPicPr>
          <p:cNvPr id="5" name="Image 0" descr="แนะนำตามหมวดหมู่ของ Anan ได้ ADA 2 และ SOL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241" y="1463040"/>
            <a:ext cx="5307071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33241" y="1463040"/>
            <a:ext cx="5307071" cy="4480560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" name="Text 4"/>
          <p:cNvSpPr txBox="1"/>
          <p:nvPr/>
        </p:nvSpPr>
        <p:spPr>
          <a:xfrm>
            <a:off x="6333241" y="6007608"/>
            <a:ext cx="53070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ภาพจากแอป: เส้นส้มคือ IN_CATEGORY</a:t>
            </a:r>
            <a:endParaRPr lang="th-TH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2103120"/>
            <a:ext cx="146304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6"/>
          <p:cNvSpPr txBox="1"/>
          <p:nvPr/>
        </p:nvSpPr>
        <p:spPr>
          <a:xfrm>
            <a:off x="91440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200" b="1" dirty="0">
                <a:solidFill>
                  <a:srgbClr val="0A7A5A"/>
                </a:solidFill>
                <a:latin typeface="Consolas"/>
                <a:ea typeface="Consolas"/>
                <a:cs typeface="Consolas"/>
              </a:rPr>
              <a:t>HOLDS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77440" y="2103120"/>
            <a:ext cx="1463040" cy="0"/>
          </a:xfrm>
          <a:prstGeom prst="line">
            <a:avLst/>
          </a:prstGeom>
          <a:noFill/>
          <a:ln w="76200">
            <a:solidFill>
              <a:srgbClr val="B8500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" name="Text 8"/>
          <p:cNvSpPr txBox="1"/>
          <p:nvPr/>
        </p:nvSpPr>
        <p:spPr>
          <a:xfrm>
            <a:off x="237744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200" b="1" dirty="0">
                <a:solidFill>
                  <a:srgbClr val="B8500A"/>
                </a:solidFill>
                <a:latin typeface="Consolas"/>
                <a:ea typeface="Consolas"/>
                <a:cs typeface="Consolas"/>
              </a:rPr>
              <a:t>IN_CATEGORY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40480" y="2103120"/>
            <a:ext cx="1463040" cy="0"/>
          </a:xfrm>
          <a:prstGeom prst="line">
            <a:avLst/>
          </a:prstGeom>
          <a:noFill/>
          <a:ln w="76200">
            <a:solidFill>
              <a:srgbClr val="B8500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" name="Text 10"/>
          <p:cNvSpPr txBox="1"/>
          <p:nvPr/>
        </p:nvSpPr>
        <p:spPr>
          <a:xfrm>
            <a:off x="384048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200" b="1" dirty="0">
                <a:solidFill>
                  <a:srgbClr val="B8500A"/>
                </a:solidFill>
                <a:latin typeface="Consolas"/>
                <a:ea typeface="Consolas"/>
                <a:cs typeface="Consolas"/>
              </a:rPr>
              <a:t>IN_CATEGORY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8096" y="1956816"/>
            <a:ext cx="292608" cy="292608"/>
          </a:xfrm>
          <a:prstGeom prst="ellipse">
            <a:avLst/>
          </a:prstGeom>
          <a:solidFill>
            <a:srgbClr val="111A17"/>
          </a:solidFill>
          <a:ln w="3810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Text 12"/>
          <p:cNvSpPr txBox="1"/>
          <p:nvPr/>
        </p:nvSpPr>
        <p:spPr>
          <a:xfrm>
            <a:off x="182880" y="2340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3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ผู้ใช้</a:t>
            </a:r>
            <a:endParaRPr lang="th-TH" sz="1300" dirty="0"/>
          </a:p>
        </p:txBody>
      </p:sp>
      <p:sp>
        <p:nvSpPr>
          <p:cNvPr id="16" name="Shape 13"/>
          <p:cNvSpPr/>
          <p:nvPr/>
        </p:nvSpPr>
        <p:spPr>
          <a:xfrm>
            <a:off x="2231136" y="195681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Text 14"/>
          <p:cNvSpPr txBox="1"/>
          <p:nvPr/>
        </p:nvSpPr>
        <p:spPr>
          <a:xfrm>
            <a:off x="1645920" y="2340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3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เหรียญที่ถือ</a:t>
            </a:r>
            <a:endParaRPr lang="th-TH" sz="1300" dirty="0"/>
          </a:p>
        </p:txBody>
      </p:sp>
      <p:sp>
        <p:nvSpPr>
          <p:cNvPr id="18" name="Shape 15"/>
          <p:cNvSpPr/>
          <p:nvPr/>
        </p:nvSpPr>
        <p:spPr>
          <a:xfrm>
            <a:off x="3694176" y="1956816"/>
            <a:ext cx="292608" cy="292608"/>
          </a:xfrm>
          <a:prstGeom prst="rect">
            <a:avLst/>
          </a:prstGeom>
          <a:solidFill>
            <a:srgbClr val="FFFFFF"/>
          </a:solidFill>
          <a:ln w="3810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Text 16"/>
          <p:cNvSpPr txBox="1"/>
          <p:nvPr/>
        </p:nvSpPr>
        <p:spPr>
          <a:xfrm>
            <a:off x="3108960" y="2340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3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หมวดหมู่</a:t>
            </a:r>
            <a:endParaRPr lang="th-TH" sz="1300" dirty="0"/>
          </a:p>
        </p:txBody>
      </p:sp>
      <p:sp>
        <p:nvSpPr>
          <p:cNvPr id="20" name="Shape 17"/>
          <p:cNvSpPr/>
          <p:nvPr/>
        </p:nvSpPr>
        <p:spPr>
          <a:xfrm>
            <a:off x="5157216" y="195681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1" name="Text 18"/>
          <p:cNvSpPr txBox="1"/>
          <p:nvPr/>
        </p:nvSpPr>
        <p:spPr>
          <a:xfrm>
            <a:off x="4572000" y="2340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altLang="en-US" sz="13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เหรียญอื่นในหมวด</a:t>
            </a:r>
            <a:endParaRPr lang="th-TH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017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ผลของ Anan</a:t>
            </a:r>
            <a:endParaRPr lang="th-TH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310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ADA 2 · SOL 2</a:t>
            </a:r>
            <a:r>
              <a:rPr lang="th-TH" altLang="en-US" sz="16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   ผ่านหมวด Layer1</a:t>
            </a:r>
            <a:endParaRPr lang="th-TH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4206240"/>
            <a:ext cx="5303520" cy="1920240"/>
          </a:xfrm>
          <a:prstGeom prst="rect">
            <a:avLst/>
          </a:prstGeom>
          <a:solidFill>
            <a:srgbClr val="EEF2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" name="Text 22"/>
          <p:cNvSpPr txBox="1"/>
          <p:nvPr/>
        </p:nvSpPr>
        <p:spPr>
          <a:xfrm>
            <a:off x="822960" y="420624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ข้อจำกัดของแบบที่พึ่งผู้ใช้คนอื่น: กรณี Gun</a:t>
            </a:r>
            <a:endParaRPr lang="th-TH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Gun ถือแต่ DOGE กับ PEPE จึงเชื่อมกับส่วนอื่นของกราฟผ่าน Kong และ Dao เท่านั้น แบบ 3 hop แนะนำได้แค่ SOL 3 คะแนน</a:t>
            </a:r>
            <a:endParaRPr lang="th-TH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64008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ข้อมูลทุกส่วนเพิ่ม ลบ แก้ไขได้จากหน้าเว็บ</a:t>
            </a:r>
            <a:endParaRPr lang="th-TH" sz="2600" dirty="0"/>
          </a:p>
        </p:txBody>
      </p:sp>
      <p:pic>
        <p:nvPicPr>
          <p:cNvPr id="5" name="Image 0" descr="แผงแก้ไขเหรียญ เห็นช่องอัปโหลดรูป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440680" cy="27726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63040"/>
            <a:ext cx="5440680" cy="2772654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7" name="Image 1" descr="หน้าแก้ HOLDS ของผู้ใช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463040"/>
            <a:ext cx="5440680" cy="277265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99632" y="1463040"/>
            <a:ext cx="5440680" cy="2772654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5"/>
          <p:cNvSpPr txBox="1"/>
          <p:nvPr/>
        </p:nvSpPr>
        <p:spPr>
          <a:xfrm>
            <a:off x="548640" y="429970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แก้ไขเหรียญ: เปลี่ยนหมวดและอัปโหลดรูป</a:t>
            </a:r>
            <a:endParaRPr lang="th-TH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29970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แก้ HOLDS ของผู้ใช้ทั้งพอร์ตหรือทีละเส้น</a:t>
            </a:r>
            <a:endParaRPr lang="th-TH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493776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8"/>
          <p:cNvSpPr txBox="1"/>
          <p:nvPr/>
        </p:nvSpPr>
        <p:spPr>
          <a:xfrm>
            <a:off x="896112" y="4873752"/>
            <a:ext cx="22197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ผู้ใช้</a:t>
            </a:r>
            <a:endParaRPr lang="th-TH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96112" y="5257800"/>
            <a:ext cx="22197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เพิ่ม เปลี่ยนชื่อ ลบ</a:t>
            </a:r>
            <a:endParaRPr lang="th-TH" sz="1300" dirty="0"/>
          </a:p>
        </p:txBody>
      </p:sp>
      <p:sp>
        <p:nvSpPr>
          <p:cNvPr id="14" name="Shape 10"/>
          <p:cNvSpPr/>
          <p:nvPr/>
        </p:nvSpPr>
        <p:spPr>
          <a:xfrm>
            <a:off x="3390138" y="493776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Text 11"/>
          <p:cNvSpPr txBox="1"/>
          <p:nvPr/>
        </p:nvSpPr>
        <p:spPr>
          <a:xfrm>
            <a:off x="3737610" y="4873752"/>
            <a:ext cx="22197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เหรียญ</a:t>
            </a:r>
            <a:endParaRPr lang="th-TH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737610" y="5257800"/>
            <a:ext cx="22197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เพิ่ม แก้ไข ลบ พร้อมอัปโหลดรูป PNG, JPG, WEBP รูปถูกย่อไม่เกิน 128 px แล้วเก็บใน property image</a:t>
            </a:r>
            <a:endParaRPr lang="th-TH" sz="1300" dirty="0"/>
          </a:p>
        </p:txBody>
      </p:sp>
      <p:sp>
        <p:nvSpPr>
          <p:cNvPr id="17" name="Shape 13"/>
          <p:cNvSpPr/>
          <p:nvPr/>
        </p:nvSpPr>
        <p:spPr>
          <a:xfrm>
            <a:off x="6231636" y="493776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Text 14"/>
          <p:cNvSpPr txBox="1"/>
          <p:nvPr/>
        </p:nvSpPr>
        <p:spPr>
          <a:xfrm>
            <a:off x="6579108" y="4873752"/>
            <a:ext cx="22197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หมวดหมู่</a:t>
            </a:r>
            <a:endParaRPr lang="th-TH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579108" y="5257800"/>
            <a:ext cx="22197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เพิ่ม เปลี่ยนชื่อ ลบ และกำหนดหมวดของเหรียญ</a:t>
            </a:r>
            <a:endParaRPr lang="th-TH" sz="1300" dirty="0"/>
          </a:p>
        </p:txBody>
      </p:sp>
      <p:sp>
        <p:nvSpPr>
          <p:cNvPr id="20" name="Shape 16"/>
          <p:cNvSpPr/>
          <p:nvPr/>
        </p:nvSpPr>
        <p:spPr>
          <a:xfrm>
            <a:off x="9073134" y="493776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1" name="Text 17"/>
          <p:cNvSpPr txBox="1"/>
          <p:nvPr/>
        </p:nvSpPr>
        <p:spPr>
          <a:xfrm>
            <a:off x="9420606" y="4873752"/>
            <a:ext cx="22197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HOLDS</a:t>
            </a:r>
            <a:endParaRPr lang="th-TH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9420606" y="5257800"/>
            <a:ext cx="221970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แก้ทั้งพอร์ตหรือทีละเส้น</a:t>
            </a:r>
            <a:endParaRPr lang="th-TH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64008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FRIEND_OF ไม่มีวันล้าสมัย เพราะสร้างใหม่ในทรานแซกชันเดียวกับการแก้ไข</a:t>
            </a:r>
            <a:endParaRPr lang="th-TH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6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FRIEND_OF คำนวณจาก HOLDS ไม่มีใครกรอกเอง ถ้า HOLDS เปลี่ยน FRIEND_OF ต้องเปลี่ยนตาม</a:t>
            </a:r>
            <a:endParaRPr lang="th-TH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4846320" cy="2331720"/>
          </a:xfrm>
          <a:prstGeom prst="rect">
            <a:avLst/>
          </a:prstGeom>
          <a:solidFill>
            <a:srgbClr val="EEF2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300" b="1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ทรานแซกชันเดียว</a:t>
            </a:r>
            <a:endParaRPr lang="th-TH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3291840"/>
            <a:ext cx="0" cy="914400"/>
          </a:xfrm>
          <a:prstGeom prst="line">
            <a:avLst/>
          </a:prstGeom>
          <a:noFill/>
          <a:ln w="6350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 txBox="1"/>
          <p:nvPr/>
        </p:nvSpPr>
        <p:spPr>
          <a:xfrm>
            <a:off x="914400" y="306324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A7A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B3F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แก้ไขข้อมูลที่กระทบ HOLDS</a:t>
            </a:r>
            <a:endParaRPr lang="th-TH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สร้าง FRIEND_OF ใหม่จาก HOLDS</a:t>
            </a:r>
            <a:endParaRPr lang="th-TH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834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th-TH" alt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สำเร็จทั้งสองขั้น</a:t>
            </a:r>
            <a:r>
              <a:rPr lang="th-TH" altLang="en-US" sz="14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 บันทึกพร้อมกัน</a:t>
            </a:r>
            <a:endParaRPr lang="th-TH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th-TH" alt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ขั้นใดล้มเหลว</a:t>
            </a:r>
            <a:r>
              <a:rPr lang="th-TH" altLang="en-US" sz="14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  ยกเลิกทั้งหมด ข้อมูลสองชุดจึงตรงกันเสมอ</a:t>
            </a:r>
            <a:endParaRPr lang="th-TH" sz="1400" dirty="0"/>
          </a:p>
        </p:txBody>
      </p:sp>
      <p:pic>
        <p:nvPicPr>
          <p:cNvPr id="14" name="Image 0" descr="ตาราง FRIEND_OF 27 คู่ พร้อม shared_coins และ we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463040"/>
            <a:ext cx="5943600" cy="317182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696712" y="1463040"/>
            <a:ext cx="5943600" cy="3171825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3"/>
          <p:cNvSpPr txBox="1"/>
          <p:nvPr/>
        </p:nvSpPr>
        <p:spPr>
          <a:xfrm>
            <a:off x="5696712" y="4698873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ตาราง FRIEND_OF 27 คู่ในแอป พร้อม shared_coins และ weight</a:t>
            </a:r>
            <a:endParaRPr lang="th-TH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696712" y="52578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ถ้าแก้ข้อมูลจากนอกแอป เช่น Notebook หรือ Aura Query ใช้ปุ่มคำนวณ FRIEND_OF ใหม่จาก HOLDS ในหน้านี้</a:t>
            </a:r>
            <a:endParaRPr lang="th-TH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64008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โค้ดแยกหน้าจอออกจากฐานข้อมูล และ deploy จาก GitHub</a:t>
            </a:r>
            <a:endParaRPr lang="th-TH" sz="2600" dirty="0"/>
          </a:p>
        </p:txBody>
      </p:sp>
      <p:sp>
        <p:nvSpPr>
          <p:cNvPr id="5" name="Shape 3"/>
          <p:cNvSpPr/>
          <p:nvPr/>
        </p:nvSpPr>
        <p:spPr>
          <a:xfrm>
            <a:off x="2697480" y="2286000"/>
            <a:ext cx="5806440" cy="2011680"/>
          </a:xfrm>
          <a:prstGeom prst="rect">
            <a:avLst/>
          </a:prstGeom>
          <a:solidFill>
            <a:srgbClr val="EEF2F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 txBox="1"/>
          <p:nvPr/>
        </p:nvSpPr>
        <p:spPr>
          <a:xfrm>
            <a:off x="2880360" y="23774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300" b="1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Streamlit Community Cloud</a:t>
            </a:r>
            <a:endParaRPr lang="th-TH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55448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ผู้ใช้</a:t>
            </a:r>
            <a:endParaRPr lang="th-TH" sz="1400" dirty="0"/>
          </a:p>
        </p:txBody>
      </p:sp>
      <p:sp>
        <p:nvSpPr>
          <p:cNvPr id="9" name="Shape 7"/>
          <p:cNvSpPr/>
          <p:nvPr/>
        </p:nvSpPr>
        <p:spPr>
          <a:xfrm>
            <a:off x="2971800" y="2926080"/>
            <a:ext cx="237744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 txBox="1"/>
          <p:nvPr/>
        </p:nvSpPr>
        <p:spPr>
          <a:xfrm>
            <a:off x="306324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app.py</a:t>
            </a:r>
            <a:endParaRPr lang="th-TH" sz="1400" dirty="0"/>
          </a:p>
          <a:p>
            <a:pPr marL="0" indent="0" algn="ctr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หน้าจอ Streamlit</a:t>
            </a:r>
            <a:endParaRPr lang="th-TH" sz="1400" dirty="0"/>
          </a:p>
        </p:txBody>
      </p:sp>
      <p:sp>
        <p:nvSpPr>
          <p:cNvPr id="11" name="Shape 9"/>
          <p:cNvSpPr/>
          <p:nvPr/>
        </p:nvSpPr>
        <p:spPr>
          <a:xfrm>
            <a:off x="5852160" y="2926080"/>
            <a:ext cx="2377440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 txBox="1"/>
          <p:nvPr/>
        </p:nvSpPr>
        <p:spPr>
          <a:xfrm>
            <a:off x="594360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Consolas"/>
                <a:ea typeface="Consolas"/>
                <a:cs typeface="Consolas"/>
              </a:rPr>
              <a:t>neo4j_service.py</a:t>
            </a:r>
            <a:endParaRPr lang="th-TH" sz="1400" dirty="0"/>
          </a:p>
          <a:p>
            <a:pPr marL="0" indent="0" algn="ctr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Cypher ทั้งหมด</a:t>
            </a:r>
            <a:endParaRPr lang="th-TH" sz="1400" dirty="0"/>
          </a:p>
        </p:txBody>
      </p:sp>
      <p:sp>
        <p:nvSpPr>
          <p:cNvPr id="13" name="Shape 11"/>
          <p:cNvSpPr/>
          <p:nvPr/>
        </p:nvSpPr>
        <p:spPr>
          <a:xfrm>
            <a:off x="9418320" y="2926080"/>
            <a:ext cx="2221992" cy="1005840"/>
          </a:xfrm>
          <a:prstGeom prst="rect">
            <a:avLst/>
          </a:prstGeom>
          <a:solidFill>
            <a:srgbClr val="0A7A5A"/>
          </a:solidFill>
          <a:ln w="3175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 txBox="1"/>
          <p:nvPr/>
        </p:nvSpPr>
        <p:spPr>
          <a:xfrm>
            <a:off x="9509760" y="2926080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altLang="en-US" sz="16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Neo4j Aura</a:t>
            </a:r>
            <a:endParaRPr lang="th-TH" sz="1400" dirty="0"/>
          </a:p>
        </p:txBody>
      </p:sp>
      <p:sp>
        <p:nvSpPr>
          <p:cNvPr id="15" name="Shape 13"/>
          <p:cNvSpPr/>
          <p:nvPr/>
        </p:nvSpPr>
        <p:spPr>
          <a:xfrm>
            <a:off x="2103120" y="3429000"/>
            <a:ext cx="868680" cy="0"/>
          </a:xfrm>
          <a:prstGeom prst="line">
            <a:avLst/>
          </a:prstGeom>
          <a:noFill/>
          <a:ln w="50800">
            <a:solidFill>
              <a:srgbClr val="0A7A5A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 14"/>
          <p:cNvSpPr/>
          <p:nvPr/>
        </p:nvSpPr>
        <p:spPr>
          <a:xfrm>
            <a:off x="5349240" y="3429000"/>
            <a:ext cx="502920" cy="0"/>
          </a:xfrm>
          <a:prstGeom prst="line">
            <a:avLst/>
          </a:prstGeom>
          <a:noFill/>
          <a:ln w="50800">
            <a:solidFill>
              <a:srgbClr val="0A7A5A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 15"/>
          <p:cNvSpPr/>
          <p:nvPr/>
        </p:nvSpPr>
        <p:spPr>
          <a:xfrm>
            <a:off x="8229600" y="3429000"/>
            <a:ext cx="1188720" cy="0"/>
          </a:xfrm>
          <a:prstGeom prst="line">
            <a:avLst/>
          </a:prstGeom>
          <a:noFill/>
          <a:ln w="50800">
            <a:solidFill>
              <a:srgbClr val="0A7A5A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 16"/>
          <p:cNvSpPr/>
          <p:nvPr/>
        </p:nvSpPr>
        <p:spPr>
          <a:xfrm>
            <a:off x="2971800" y="1417320"/>
            <a:ext cx="2377440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 txBox="1"/>
          <p:nvPr/>
        </p:nvSpPr>
        <p:spPr>
          <a:xfrm>
            <a:off x="3063240" y="1417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GitHub · branch main</a:t>
            </a:r>
            <a:endParaRPr lang="th-TH" sz="1400" dirty="0"/>
          </a:p>
        </p:txBody>
      </p:sp>
      <p:sp>
        <p:nvSpPr>
          <p:cNvPr id="20" name="Shape 18"/>
          <p:cNvSpPr/>
          <p:nvPr/>
        </p:nvSpPr>
        <p:spPr>
          <a:xfrm>
            <a:off x="4160520" y="1965960"/>
            <a:ext cx="0" cy="320040"/>
          </a:xfrm>
          <a:prstGeom prst="line">
            <a:avLst/>
          </a:prstGeom>
          <a:noFill/>
          <a:ln w="31750">
            <a:solidFill>
              <a:srgbClr val="111A17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 txBox="1"/>
          <p:nvPr/>
        </p:nvSpPr>
        <p:spPr>
          <a:xfrm>
            <a:off x="4297680" y="1984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deploy</a:t>
            </a:r>
            <a:endParaRPr lang="th-TH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4754880"/>
            <a:ext cx="2377440" cy="5486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 txBox="1"/>
          <p:nvPr/>
        </p:nvSpPr>
        <p:spPr>
          <a:xfrm>
            <a:off x="594360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Streamlit Secrets</a:t>
            </a:r>
            <a:endParaRPr lang="th-TH" sz="1400" dirty="0"/>
          </a:p>
        </p:txBody>
      </p:sp>
      <p:sp>
        <p:nvSpPr>
          <p:cNvPr id="24" name="Shape 22"/>
          <p:cNvSpPr/>
          <p:nvPr/>
        </p:nvSpPr>
        <p:spPr>
          <a:xfrm flipV="1">
            <a:off x="7040880" y="3931920"/>
            <a:ext cx="0" cy="822960"/>
          </a:xfrm>
          <a:prstGeom prst="line">
            <a:avLst/>
          </a:prstGeom>
          <a:noFill/>
          <a:ln w="31750">
            <a:solidFill>
              <a:srgbClr val="111A17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 txBox="1"/>
          <p:nvPr/>
        </p:nvSpPr>
        <p:spPr>
          <a:xfrm>
            <a:off x="7178040" y="4370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ค่าเชื่อมต่อ Neo4j</a:t>
            </a:r>
            <a:endParaRPr lang="th-TH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7" name="Text 25"/>
          <p:cNvSpPr txBox="1"/>
          <p:nvPr/>
        </p:nvSpPr>
        <p:spPr>
          <a:xfrm>
            <a:off x="896112" y="4800600"/>
            <a:ext cx="4590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5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Cypher ใช้ parameter เสมอ</a:t>
            </a:r>
            <a:endParaRPr lang="th-TH" sz="1400" dirty="0"/>
          </a:p>
          <a:p>
            <a:pPr marL="0" indent="0" algn="l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ไม่ต่อ string จากข้อมูลที่ผู้ใช้พิมพ์</a:t>
            </a:r>
            <a:endParaRPr lang="th-TH" sz="1400" dirty="0"/>
          </a:p>
        </p:txBody>
      </p:sp>
      <p:sp>
        <p:nvSpPr>
          <p:cNvPr id="28" name="Shape 26"/>
          <p:cNvSpPr/>
          <p:nvPr/>
        </p:nvSpPr>
        <p:spPr>
          <a:xfrm>
            <a:off x="8549640" y="4864608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A1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 txBox="1"/>
          <p:nvPr/>
        </p:nvSpPr>
        <p:spPr>
          <a:xfrm>
            <a:off x="8897112" y="4800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5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รหัสเชื่อมต่อ Aura อยู่ใน Streamlit Secrets</a:t>
            </a:r>
            <a:endParaRPr lang="th-TH" sz="1400" dirty="0"/>
          </a:p>
          <a:p>
            <a:pPr marL="0" indent="0" algn="l">
              <a:buNone/>
            </a:pP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ไม่อยู่ในโค้ด</a:t>
            </a:r>
            <a:endParaRPr lang="th-TH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9808"/>
            <a:ext cx="64008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85216" cy="5852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74320"/>
            <a:ext cx="10241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2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หน้าจอใช้ภาษาของแผนที่เส้นทาง และใช้ได้บนมือถือ</a:t>
            </a:r>
            <a:endParaRPr lang="th-TH" sz="2600" dirty="0"/>
          </a:p>
        </p:txBody>
      </p:sp>
      <p:pic>
        <p:nvPicPr>
          <p:cNvPr id="5" name="Image 0" descr="หน้ารวมการบ้านบนมือถือ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572" y="1463040"/>
            <a:ext cx="222885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62572" y="1463040"/>
            <a:ext cx="2228850" cy="4572000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7" name="Image 1" descr="หน้าแนะนำเหรียญบนมือถือ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462" y="1463040"/>
            <a:ext cx="2228850" cy="457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411462" y="1463040"/>
            <a:ext cx="2228850" cy="4572000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5"/>
          <p:cNvSpPr txBox="1"/>
          <p:nvPr/>
        </p:nvSpPr>
        <p:spPr>
          <a:xfrm>
            <a:off x="6862572" y="6099048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หน้ารวมการบ้านบนมือถือ</a:t>
            </a:r>
            <a:endParaRPr lang="th-TH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9411462" y="6099048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หน้าแนะนำเหรียญบนมือถือ</a:t>
            </a:r>
            <a:endParaRPr lang="th-TH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1463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สีของเส้นบอกชนิดความสัมพันธ์</a:t>
            </a:r>
            <a:endParaRPr lang="th-TH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2203704"/>
            <a:ext cx="822960" cy="0"/>
          </a:xfrm>
          <a:prstGeom prst="line">
            <a:avLst/>
          </a:prstGeom>
          <a:noFill/>
          <a:ln w="76200">
            <a:solidFill>
              <a:srgbClr val="0A7A5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" name="Text 9"/>
          <p:cNvSpPr txBox="1"/>
          <p:nvPr/>
        </p:nvSpPr>
        <p:spPr>
          <a:xfrm>
            <a:off x="1554480" y="2057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A7A5A"/>
                </a:solidFill>
                <a:latin typeface="Consolas"/>
                <a:ea typeface="Consolas"/>
                <a:cs typeface="Consolas"/>
              </a:rPr>
              <a:t>HOLDS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200400" y="20574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5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ถือเหรียญ</a:t>
            </a:r>
            <a:endParaRPr lang="th-TH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2660904"/>
            <a:ext cx="822960" cy="0"/>
          </a:xfrm>
          <a:prstGeom prst="line">
            <a:avLst/>
          </a:prstGeom>
          <a:noFill/>
          <a:ln w="76200">
            <a:solidFill>
              <a:srgbClr val="5B3FA6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2"/>
          <p:cNvSpPr txBox="1"/>
          <p:nvPr/>
        </p:nvSpPr>
        <p:spPr>
          <a:xfrm>
            <a:off x="1554480" y="2514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5B3FA6"/>
                </a:solidFill>
                <a:latin typeface="Consolas"/>
                <a:ea typeface="Consolas"/>
                <a:cs typeface="Consolas"/>
              </a:rPr>
              <a:t>FRIEND_OF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200400" y="2514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5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ถือเหรียญเดียวกัน</a:t>
            </a:r>
            <a:endParaRPr lang="th-TH" sz="1500" dirty="0"/>
          </a:p>
        </p:txBody>
      </p:sp>
      <p:sp>
        <p:nvSpPr>
          <p:cNvPr id="18" name="Shape 14"/>
          <p:cNvSpPr/>
          <p:nvPr/>
        </p:nvSpPr>
        <p:spPr>
          <a:xfrm>
            <a:off x="548640" y="3118104"/>
            <a:ext cx="822960" cy="0"/>
          </a:xfrm>
          <a:prstGeom prst="line">
            <a:avLst/>
          </a:prstGeom>
          <a:noFill/>
          <a:ln w="76200">
            <a:solidFill>
              <a:srgbClr val="B8500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Text 15"/>
          <p:cNvSpPr txBox="1"/>
          <p:nvPr/>
        </p:nvSpPr>
        <p:spPr>
          <a:xfrm>
            <a:off x="155448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B8500A"/>
                </a:solidFill>
                <a:latin typeface="Consolas"/>
                <a:ea typeface="Consolas"/>
                <a:cs typeface="Consolas"/>
              </a:rPr>
              <a:t>IN_CATEGORY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3200400" y="29718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5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อยู่ในหมวด</a:t>
            </a:r>
            <a:endParaRPr lang="th-TH" sz="1500" dirty="0"/>
          </a:p>
        </p:txBody>
      </p:sp>
      <p:pic>
        <p:nvPicPr>
          <p:cNvPr id="21" name="Image 2" descr="เมนูด้านข้างของแอป วาดเป็นเส้นทางที่มีสถาน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03320"/>
            <a:ext cx="2743200" cy="21031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8640" y="3703320"/>
            <a:ext cx="2743200" cy="2103120"/>
          </a:xfrm>
          <a:prstGeom prst="rect">
            <a:avLst/>
          </a:prstGeom>
          <a:ln w="9525">
            <a:solidFill>
              <a:srgbClr val="DCE3E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3" name="Text 18"/>
          <p:cNvSpPr txBox="1"/>
          <p:nvPr/>
        </p:nvSpPr>
        <p:spPr>
          <a:xfrm>
            <a:off x="548640" y="5870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เมนูของแอปบนจอคอมพิวเตอร์</a:t>
            </a:r>
            <a:endParaRPr lang="th-TH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3566160" y="3703320"/>
            <a:ext cx="29306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th-TH" alt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เมนูและหน้ารวมการบ้านก็เป็นเส้นทาง</a:t>
            </a:r>
            <a:endParaRPr lang="th-TH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th-TH" altLang="en-US" sz="14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แต่ละหน้าคือสถานี เหมือนเส้นทางที่ใช้อธิบายคำแนะนำ</a:t>
            </a:r>
            <a:endParaRPr lang="th-TH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7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30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สรุป: นับเส้นทาง อธิบายได้ และใช้งานได้จริง</a:t>
            </a:r>
            <a:endParaRPr lang="th-TH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920240"/>
            <a:ext cx="0" cy="237744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 txBox="1"/>
          <p:nvPr/>
        </p:nvSpPr>
        <p:spPr>
          <a:xfrm>
            <a:off x="841248" y="166420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6459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แนะนำด้วยการนับเส้นทางในกราฟ</a:t>
            </a:r>
            <a:endParaRPr lang="th-TH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04825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ไม่ได้ดูว่าเหรียญไหนดี</a:t>
            </a:r>
            <a:endParaRPr lang="th-TH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5292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8346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คำแนะนำทุกข้ออธิบายได้</a:t>
            </a:r>
            <a:endParaRPr lang="th-TH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323697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แอปวาดเส้นทางที่นับเป็นคะแนนให้เห็น</a:t>
            </a:r>
            <a:endParaRPr lang="th-TH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04164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A1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40233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เป็นระบบที่ใช้ได้จริง</a:t>
            </a:r>
            <a:endParaRPr lang="th-TH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442569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400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ต่อกับ Neo4j Aura เพิ่ม ลบ แก้ไขข้อมูลได้ และ deploy อยู่บน Streamlit Community Cloud</a:t>
            </a:r>
            <a:endParaRPr lang="th-TH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1600200"/>
            <a:ext cx="4507992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 txBox="1"/>
          <p:nvPr/>
        </p:nvSpPr>
        <p:spPr>
          <a:xfrm>
            <a:off x="7178040" y="178308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h-TH" altLang="en-US" sz="1800" b="1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แนวทางต่อยอด</a:t>
            </a:r>
            <a:r>
              <a:rPr lang="th-TH" altLang="en-US" sz="1300" dirty="0">
                <a:solidFill>
                  <a:srgbClr val="51605A"/>
                </a:solidFill>
                <a:latin typeface="Anuphan"/>
                <a:ea typeface="Anuphan"/>
                <a:cs typeface="Anuphan"/>
              </a:rPr>
              <a:t>   เป็นแผน ยังไม่ได้ทำ</a:t>
            </a:r>
            <a:endParaRPr lang="th-TH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377440"/>
            <a:ext cx="3867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th-TH" altLang="en-US" sz="15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ถ่วงน้ำหนักด้วยความคล้ายของพอร์ต เช่น Jaccard similarity</a:t>
            </a:r>
            <a:endParaRPr lang="th-TH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th-TH" altLang="en-US" sz="15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รวมคะแนนหลายแบบเป็น Hybrid Score</a:t>
            </a:r>
            <a:endParaRPr lang="th-TH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th-TH" altLang="en-US" sz="15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ใช้ Neo4j Graph Data Science</a:t>
            </a:r>
            <a:endParaRPr lang="th-TH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th-TH" altLang="en-US" sz="1500" dirty="0">
                <a:solidFill>
                  <a:srgbClr val="111A17"/>
                </a:solidFill>
                <a:latin typeface="Anuphan"/>
                <a:ea typeface="Anuphan"/>
                <a:cs typeface="Anuphan"/>
              </a:rPr>
              <a:t>วัดผลด้วย Precision@K และ Recall@K</a:t>
            </a:r>
            <a:endParaRPr lang="th-TH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34924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altLang="en-US" sz="16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แอป  </a:t>
            </a:r>
            <a:r>
              <a:rPr lang="en-US" altLang="en-US" sz="1600" u="sng" dirty="0">
                <a:solidFill>
                  <a:srgbClr val="FFFFFF"/>
                </a:solidFill>
                <a:ea typeface="Anuphan"/>
              </a:rPr>
              <a:t>homework-app-664245010.streamlit.app/</a:t>
            </a:r>
            <a:endParaRPr lang="th-TH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71500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altLang="en-US" sz="1600" b="1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โค้ด  </a:t>
            </a:r>
            <a:r>
              <a:rPr lang="en-US" altLang="en-US" sz="1600" u="sng" dirty="0">
                <a:solidFill>
                  <a:srgbClr val="FFFFFF"/>
                </a:solidFill>
                <a:ea typeface="Anuphan"/>
              </a:rPr>
              <a:t>github.com/tpp72/Homework-Hub</a:t>
            </a:r>
            <a:endParaRPr lang="th-TH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h-TH" altLang="en-US" sz="1200" dirty="0">
                <a:solidFill>
                  <a:srgbClr val="FFFFFF"/>
                </a:solidFill>
                <a:latin typeface="Anuphan"/>
                <a:ea typeface="Anuphan"/>
                <a:cs typeface="Anuphan"/>
              </a:rPr>
              <a:t>ตัวอย่างเชิงวิชาการเรื่องโครงสร้าง Graph เท่านั้น ไม่ใช่คำแนะนำการลงทุน</a:t>
            </a:r>
            <a:endParaRPr lang="th-TH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nuphan"/>
        <a:ea typeface=""/>
        <a:cs typeface="Anuphan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Leelawadee U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nuphan"/>
        <a:ea typeface=""/>
        <a:cs typeface="Anuphan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Leelawadee U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2327</Words>
  <Application>Microsoft Office PowerPoint</Application>
  <PresentationFormat>แบบจอกว้าง</PresentationFormat>
  <Paragraphs>251</Paragraphs>
  <Slides>14</Slides>
  <Notes>14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14</vt:i4>
      </vt:variant>
    </vt:vector>
  </HeadingPairs>
  <TitlesOfParts>
    <vt:vector size="18" baseType="lpstr">
      <vt:lpstr>Anuphan</vt:lpstr>
      <vt:lpstr>Arial</vt:lpstr>
      <vt:lpstr>Consolas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ระบบแนะนำเหรียญ Crypto ด้วย Graph Database</dc:title>
  <dc:subject>PptxGenJS Presentation</dc:subject>
  <dc:creator>ต่อพงศ์ เพียรพัฒน์กุล</dc:creator>
  <cp:lastModifiedBy>tor tpp72</cp:lastModifiedBy>
  <cp:revision>2</cp:revision>
  <dcterms:created xsi:type="dcterms:W3CDTF">2026-10-01T17:27:13Z</dcterms:created>
  <dcterms:modified xsi:type="dcterms:W3CDTF">2026-10-01T17:31:18Z</dcterms:modified>
</cp:coreProperties>
</file>